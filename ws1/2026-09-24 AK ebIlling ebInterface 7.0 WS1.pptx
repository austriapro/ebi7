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66" r:id="rId2"/>
    <p:sldId id="276" r:id="rId3"/>
    <p:sldId id="274" r:id="rId4"/>
    <p:sldId id="268" r:id="rId5"/>
    <p:sldId id="271" r:id="rId6"/>
    <p:sldId id="275" r:id="rId7"/>
    <p:sldId id="272" r:id="rId8"/>
    <p:sldId id="269" r:id="rId9"/>
    <p:sldId id="277" r:id="rId10"/>
    <p:sldId id="280" r:id="rId11"/>
    <p:sldId id="278" r:id="rId12"/>
    <p:sldId id="27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46" autoAdjust="0"/>
    <p:restoredTop sz="94660"/>
  </p:normalViewPr>
  <p:slideViewPr>
    <p:cSldViewPr snapToGrid="0">
      <p:cViewPr varScale="1">
        <p:scale>
          <a:sx n="176" d="100"/>
          <a:sy n="176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95FB6-D4B9-744C-BFAA-8D005EBBFFDA}" type="datetimeFigureOut">
              <a:rPr lang="de-DE" smtClean="0"/>
              <a:t>24.09.26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2466E-C03F-1148-ACA0-ADFBAAD82D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501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8DB2F-3879-4008-B5D5-6AA8C0146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EB0D51-722D-4BDE-9CDD-4083CE1E4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B3B0BD-CC33-444C-A09D-EF7C2178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390920-6DC8-4471-AA8D-0C18BEDB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68F6D9-DBA7-4C4F-90BF-1FCAA00D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83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372BBE-D17D-4DDC-9F51-0CBA5DAF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5A4DB4-B5A5-4ABE-86F1-29128C75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D4619F-721A-4B7B-AE86-9F0D2ED3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47F27E-05FB-4E4C-B102-D46A89C7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409D79-D153-44D1-A5CC-E96AC72D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67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F5A2F-1071-418E-BBAA-9756264A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3FB6ED-667B-48B8-8611-7DEC9D1C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6E71C5-8CE0-4F0E-8176-6CA39F31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511763-351B-4E84-B612-AF3A1ED8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01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C931DD-3AB4-43D5-9723-CF66C6F7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282A33-A0D7-4D91-932F-06ACADAD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FF46BF-B10F-4A79-8AF1-9B3183AC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9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A85E767-6EC6-424D-A557-51997F594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7292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FCA4DC-E205-4770-B83A-E0A75AFFF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44ECB-4D5A-49D6-B05F-C428881DE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A57F4E-A489-4042-AC54-80633CAB7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A66AF1-0AAF-4695-8EEB-C73790F10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2FA3A-E237-483D-94CD-DEA26B7E26CD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1D6FC01-2A8C-C5A6-36E1-BF7BA49D89D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65410" y="365125"/>
            <a:ext cx="1102938" cy="110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4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hilip@helger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binterface.org/foru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striapro/ebi7" TargetMode="External"/><Relationship Id="rId2" Type="http://schemas.openxmlformats.org/officeDocument/2006/relationships/hyperlink" Target="https://github.com/austriapro/ebinterface-standar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BAD7371-A8F1-2A45-3478-5E8B300D6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b="1" dirty="0" err="1"/>
              <a:t>ebInterface</a:t>
            </a:r>
            <a:r>
              <a:rPr lang="de-AT" b="1" dirty="0"/>
              <a:t> 7.0</a:t>
            </a:r>
            <a:br>
              <a:rPr lang="de-AT" b="1" dirty="0"/>
            </a:br>
            <a:r>
              <a:rPr lang="de-AT" sz="4400" dirty="0"/>
              <a:t>Workshop 1</a:t>
            </a:r>
            <a:endParaRPr lang="de-AT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F2E76BD-5EAA-333F-0FBC-250F7E153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philip@helger.com</a:t>
            </a:r>
            <a:endParaRPr lang="de-AT" dirty="0"/>
          </a:p>
          <a:p>
            <a:r>
              <a:rPr lang="de-AT" dirty="0"/>
              <a:t>24.09.2026</a:t>
            </a:r>
          </a:p>
        </p:txBody>
      </p:sp>
    </p:spTree>
    <p:extLst>
      <p:ext uri="{BB962C8B-B14F-4D97-AF65-F5344CB8AC3E}">
        <p14:creationId xmlns:p14="http://schemas.microsoft.com/office/powerpoint/2010/main" val="15080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01815-43BE-838C-A370-6EFA39DB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2D13C-C05C-7E9D-1477-EEE2DE41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Rückblick</a:t>
            </a:r>
          </a:p>
          <a:p>
            <a:r>
              <a:rPr lang="de-DE" dirty="0"/>
              <a:t>Tasks und Arbeitsweise</a:t>
            </a:r>
          </a:p>
          <a:p>
            <a:r>
              <a:rPr lang="de-DE" dirty="0"/>
              <a:t>Ausblick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5733E2-1751-D80D-C483-35D953D7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7BE4FE-A6A4-883F-1818-11E6DDA6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58FB20-25BA-7117-104D-775D23A8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17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70FE9-236E-7E59-4AE7-2ABE17CE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Big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2F5836-1131-8FBB-C905-F1D79A98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7DFF63-C192-6F71-5A6D-DFA9C61E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F90A57-3506-A7CB-B675-B87C0CB7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3</a:t>
            </a:fld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EF79B04-F5A0-D251-F92B-2961B2C39F5C}"/>
              </a:ext>
            </a:extLst>
          </p:cNvPr>
          <p:cNvSpPr/>
          <p:nvPr/>
        </p:nvSpPr>
        <p:spPr>
          <a:xfrm>
            <a:off x="437675" y="1716697"/>
            <a:ext cx="1927041" cy="733031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EN16931-1:2026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9C09229-69D2-23F9-1AA1-370C6CDE65EB}"/>
              </a:ext>
            </a:extLst>
          </p:cNvPr>
          <p:cNvSpPr txBox="1"/>
          <p:nvPr/>
        </p:nvSpPr>
        <p:spPr>
          <a:xfrm>
            <a:off x="709729" y="1345957"/>
            <a:ext cx="109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Feb 2026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54E00EB-F40A-ED66-045C-2C6B74ADBE2C}"/>
              </a:ext>
            </a:extLst>
          </p:cNvPr>
          <p:cNvSpPr/>
          <p:nvPr/>
        </p:nvSpPr>
        <p:spPr>
          <a:xfrm>
            <a:off x="6061359" y="1716697"/>
            <a:ext cx="1927041" cy="733031"/>
          </a:xfrm>
          <a:prstGeom prst="rect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EN16931-3:2026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B994BE2-97F1-F37E-C99C-AD33ED96E129}"/>
              </a:ext>
            </a:extLst>
          </p:cNvPr>
          <p:cNvSpPr txBox="1"/>
          <p:nvPr/>
        </p:nvSpPr>
        <p:spPr>
          <a:xfrm>
            <a:off x="6333413" y="1345957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Aug 2026?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CD4994A-9C18-493A-A965-5E9F470AC850}"/>
              </a:ext>
            </a:extLst>
          </p:cNvPr>
          <p:cNvSpPr/>
          <p:nvPr/>
        </p:nvSpPr>
        <p:spPr>
          <a:xfrm>
            <a:off x="838199" y="3827624"/>
            <a:ext cx="2939682" cy="1758263"/>
          </a:xfrm>
          <a:prstGeom prst="rect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6.1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EN16931-1:2026 Semantisches Mapping + Deltas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itchFamily="2" charset="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sng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ebi</a:t>
            </a:r>
            <a:r>
              <a:rPr kumimoji="0" lang="de-DE" sz="1800" b="0" i="0" u="none" strike="sng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6.1  EN16931:2017 Syntax Mapping</a:t>
            </a:r>
            <a:endParaRPr kumimoji="0" lang="de-DE" sz="1800" b="0" i="0" u="none" strike="sng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A56E7DB-02F5-7A3B-D520-AE22B5EBBEC1}"/>
              </a:ext>
            </a:extLst>
          </p:cNvPr>
          <p:cNvSpPr/>
          <p:nvPr/>
        </p:nvSpPr>
        <p:spPr>
          <a:xfrm>
            <a:off x="9611902" y="3636181"/>
            <a:ext cx="2230579" cy="952185"/>
          </a:xfrm>
          <a:prstGeom prst="rect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7.0  EN16931:2026 Syntax Mapping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2C734BB-F775-A225-F2D9-75F8EC0E6DB6}"/>
              </a:ext>
            </a:extLst>
          </p:cNvPr>
          <p:cNvSpPr/>
          <p:nvPr/>
        </p:nvSpPr>
        <p:spPr>
          <a:xfrm>
            <a:off x="6133471" y="4154817"/>
            <a:ext cx="2833884" cy="1103873"/>
          </a:xfrm>
          <a:prstGeom prst="rect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7.0 inklusive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EN16931-1:2026 Semantische Mapping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B7658BD-251A-1C33-1473-5349D862283B}"/>
              </a:ext>
            </a:extLst>
          </p:cNvPr>
          <p:cNvCxnSpPr>
            <a:stCxn id="29" idx="3"/>
            <a:endCxn id="31" idx="1"/>
          </p:cNvCxnSpPr>
          <p:nvPr/>
        </p:nvCxnSpPr>
        <p:spPr>
          <a:xfrm>
            <a:off x="2364716" y="2083213"/>
            <a:ext cx="3696643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8C58766-547F-DF49-C99A-C5FCB23C8D2D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1401196" y="2449728"/>
            <a:ext cx="906844" cy="1377896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E7DB633C-0392-4B7B-C375-32E50A91A1D7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 flipV="1">
            <a:off x="3777881" y="4706755"/>
            <a:ext cx="410420" cy="1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EE75C234-7C48-723E-865D-D76B055B8724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8967355" y="4112274"/>
            <a:ext cx="644547" cy="59448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2D3923B-69EA-CFAA-908E-EB65E5FD9A9E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>
            <a:off x="7024880" y="2449728"/>
            <a:ext cx="3702312" cy="1186453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BB8268C-D954-F00D-4B0A-69EA08E29586}"/>
              </a:ext>
            </a:extLst>
          </p:cNvPr>
          <p:cNvSpPr txBox="1"/>
          <p:nvPr/>
        </p:nvSpPr>
        <p:spPr>
          <a:xfrm>
            <a:off x="1949218" y="21743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😃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D2259CF-BFF6-9ECB-E6D6-F87126FC807C}"/>
              </a:ext>
            </a:extLst>
          </p:cNvPr>
          <p:cNvSpPr txBox="1"/>
          <p:nvPr/>
        </p:nvSpPr>
        <p:spPr>
          <a:xfrm>
            <a:off x="1182180" y="5638007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Bis Ende Juli 2026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0221B73-3D30-569E-53E4-4DD242CB9832}"/>
              </a:ext>
            </a:extLst>
          </p:cNvPr>
          <p:cNvSpPr txBox="1"/>
          <p:nvPr/>
        </p:nvSpPr>
        <p:spPr>
          <a:xfrm>
            <a:off x="6085608" y="5390186"/>
            <a:ext cx="2958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Ab September 2026</a:t>
            </a:r>
          </a:p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AKs alle 2 Wochen</a:t>
            </a:r>
          </a:p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Fokus auf Delta EN</a:t>
            </a:r>
          </a:p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Letzte Major-Version von </a:t>
            </a:r>
            <a:r>
              <a:rPr lang="de-DE" dirty="0" err="1">
                <a:solidFill>
                  <a:prstClr val="black"/>
                </a:solidFill>
                <a:latin typeface="Aptos" panose="02110004020202020204"/>
              </a:rPr>
              <a:t>ebi</a:t>
            </a:r>
            <a:endParaRPr lang="de-DE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02491B4-796B-FC15-7F61-E65D24699815}"/>
              </a:ext>
            </a:extLst>
          </p:cNvPr>
          <p:cNvSpPr/>
          <p:nvPr/>
        </p:nvSpPr>
        <p:spPr>
          <a:xfrm>
            <a:off x="9600566" y="4825149"/>
            <a:ext cx="2230579" cy="760742"/>
          </a:xfrm>
          <a:prstGeom prst="rect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Update Tooling auf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7.0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063D1FFA-9C99-BED9-D4F8-C6DA5CF07899}"/>
              </a:ext>
            </a:extLst>
          </p:cNvPr>
          <p:cNvSpPr/>
          <p:nvPr/>
        </p:nvSpPr>
        <p:spPr>
          <a:xfrm>
            <a:off x="9589230" y="5822673"/>
            <a:ext cx="2230579" cy="893157"/>
          </a:xfrm>
          <a:prstGeom prst="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Update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eRechnung.gv.at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auf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7.0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20102D95-EB40-2E86-1D58-2B1100662A81}"/>
              </a:ext>
            </a:extLst>
          </p:cNvPr>
          <p:cNvCxnSpPr>
            <a:cxnSpLocks/>
            <a:stCxn id="35" idx="3"/>
            <a:endCxn id="44" idx="1"/>
          </p:cNvCxnSpPr>
          <p:nvPr/>
        </p:nvCxnSpPr>
        <p:spPr>
          <a:xfrm>
            <a:off x="8967355" y="4706754"/>
            <a:ext cx="633211" cy="498766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37B681F-4B59-C544-31F9-8F108538C916}"/>
              </a:ext>
            </a:extLst>
          </p:cNvPr>
          <p:cNvCxnSpPr>
            <a:cxnSpLocks/>
            <a:stCxn id="35" idx="3"/>
            <a:endCxn id="45" idx="1"/>
          </p:cNvCxnSpPr>
          <p:nvPr/>
        </p:nvCxnSpPr>
        <p:spPr>
          <a:xfrm>
            <a:off x="8967355" y="4706754"/>
            <a:ext cx="621875" cy="1562498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B446BB13-B36C-0A7E-9AFD-80B14668B991}"/>
              </a:ext>
            </a:extLst>
          </p:cNvPr>
          <p:cNvSpPr/>
          <p:nvPr/>
        </p:nvSpPr>
        <p:spPr>
          <a:xfrm>
            <a:off x="4188301" y="4277265"/>
            <a:ext cx="1456211" cy="858979"/>
          </a:xfrm>
          <a:prstGeom prst="rect">
            <a:avLst/>
          </a:prstGeom>
          <a:solidFill>
            <a:srgbClr val="E97132"/>
          </a:solidFill>
          <a:ln w="19050" cap="flat" cmpd="sng" algn="ctr">
            <a:solidFill>
              <a:srgbClr val="E9713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Prepare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ebi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7.0 Tickets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itchFamily="2" charset="2"/>
            </a:endParaRP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B9BF26F9-3E7A-7B55-DF82-96CD3210D54C}"/>
              </a:ext>
            </a:extLst>
          </p:cNvPr>
          <p:cNvCxnSpPr>
            <a:cxnSpLocks/>
            <a:stCxn id="48" idx="3"/>
            <a:endCxn id="35" idx="1"/>
          </p:cNvCxnSpPr>
          <p:nvPr/>
        </p:nvCxnSpPr>
        <p:spPr>
          <a:xfrm flipV="1">
            <a:off x="5644512" y="4706754"/>
            <a:ext cx="488959" cy="1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AA4BAD76-B9AD-2397-9F98-F3CC75512877}"/>
              </a:ext>
            </a:extLst>
          </p:cNvPr>
          <p:cNvSpPr txBox="1"/>
          <p:nvPr/>
        </p:nvSpPr>
        <p:spPr>
          <a:xfrm>
            <a:off x="4208391" y="5205520"/>
            <a:ext cx="141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ptos" panose="02110004020202020204"/>
              </a:rPr>
              <a:t>August 2026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FA107D27-00BE-4139-772C-E7BAAA715642}"/>
              </a:ext>
            </a:extLst>
          </p:cNvPr>
          <p:cNvSpPr txBox="1"/>
          <p:nvPr/>
        </p:nvSpPr>
        <p:spPr>
          <a:xfrm>
            <a:off x="3498554" y="3400901"/>
            <a:ext cx="533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4400" b="1" dirty="0">
                <a:solidFill>
                  <a:schemeClr val="accent6"/>
                </a:solidFill>
              </a:rPr>
              <a:t>✓</a:t>
            </a:r>
            <a:endParaRPr lang="de-DE" sz="32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ABECFC4-CE43-FA04-764B-3F1EEC51B82A}"/>
              </a:ext>
            </a:extLst>
          </p:cNvPr>
          <p:cNvSpPr txBox="1"/>
          <p:nvPr/>
        </p:nvSpPr>
        <p:spPr>
          <a:xfrm>
            <a:off x="2033781" y="1367686"/>
            <a:ext cx="533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4400" b="1" dirty="0">
                <a:solidFill>
                  <a:schemeClr val="accent6"/>
                </a:solidFill>
              </a:rPr>
              <a:t>✓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130221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47345-1EA9-C03F-16E4-9115A4C9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Wer?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CFAFB9-EA9F-18F1-6613-E013EC30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Mitglieder des AK </a:t>
            </a:r>
            <a:r>
              <a:rPr lang="de-DE" dirty="0" err="1"/>
              <a:t>eBilling</a:t>
            </a:r>
            <a:endParaRPr lang="de-DE" dirty="0"/>
          </a:p>
          <a:p>
            <a:r>
              <a:rPr lang="de-DE" dirty="0"/>
              <a:t>Nichtmitglieder dürfen leider nicht an der aktiven Arbeit teilnehmen</a:t>
            </a:r>
          </a:p>
          <a:p>
            <a:r>
              <a:rPr lang="de-DE" dirty="0"/>
              <a:t>Hint für Nichtmitglieder gibt’s das öffentliche Forum:</a:t>
            </a:r>
          </a:p>
          <a:p>
            <a:pPr lvl="1"/>
            <a:r>
              <a:rPr lang="de-DE" dirty="0">
                <a:hlinkClick r:id="rId2"/>
              </a:rPr>
              <a:t>https://www.ebinterface.org/forum/</a:t>
            </a:r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D102E0-58E0-2A22-1710-CDCCF8AC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C588BB-0DFD-98E6-D096-24DD9DAD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38B457-F6A3-6BE7-9D20-973665F4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26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ED302-68A5-AD5E-A95A-D31AE5AE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Was?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2C33AE-2E59-D0F9-0171-E9932583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ebInterface 7.0</a:t>
            </a:r>
          </a:p>
          <a:p>
            <a:pPr lvl="1"/>
            <a:r>
              <a:rPr lang="de-DE" dirty="0"/>
              <a:t>Geplant die letzte Major-Version von ebInterface – Übergang zu europäischen Formaten vorbereiten</a:t>
            </a:r>
          </a:p>
          <a:p>
            <a:r>
              <a:rPr lang="de-DE" dirty="0"/>
              <a:t>Ziel: Erstellung einer Version die in die EN 16931:2026 konvertierbar ist</a:t>
            </a:r>
          </a:p>
          <a:p>
            <a:r>
              <a:rPr lang="de-DE" dirty="0"/>
              <a:t>XML-Schema und Dokumentation</a:t>
            </a:r>
          </a:p>
          <a:p>
            <a:pPr lvl="1"/>
            <a:r>
              <a:rPr lang="de-DE" dirty="0"/>
              <a:t>Inkl. Delta zu ebInterface 6.1</a:t>
            </a:r>
          </a:p>
          <a:p>
            <a:pPr lvl="1"/>
            <a:r>
              <a:rPr lang="de-DE" dirty="0"/>
              <a:t>Inkl. Gap-Analyse zu EN 16931:2026</a:t>
            </a:r>
          </a:p>
          <a:p>
            <a:r>
              <a:rPr lang="de-DE" dirty="0"/>
              <a:t>Anpassung der Tools für ebInterface 7.0</a:t>
            </a:r>
          </a:p>
          <a:p>
            <a:r>
              <a:rPr lang="de-DE" dirty="0"/>
              <a:t>Das BRZ motivieren, ebInterface 7.0 in </a:t>
            </a:r>
            <a:r>
              <a:rPr lang="de-DE" dirty="0" err="1"/>
              <a:t>eRechnung.gv.at</a:t>
            </a:r>
            <a:r>
              <a:rPr lang="de-DE" dirty="0"/>
              <a:t> einzubauen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039E7F-15C6-A032-276B-C8B440E0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32FF0D-635E-B566-C002-0EAA3EC2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C7F070-1F56-81A5-8B34-F9471B5B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38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4704BF-60B9-8364-C2B2-2DDF7C28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42" y="365125"/>
            <a:ext cx="9729248" cy="1325563"/>
          </a:xfrm>
        </p:spPr>
        <p:txBody>
          <a:bodyPr/>
          <a:lstStyle/>
          <a:p>
            <a:r>
              <a:rPr lang="de-DE" dirty="0"/>
              <a:t>Rückblick: Was nicht?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83C8B1-90F6-42A3-A8BE-6370478D1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Abbildung von B2C-Rechnungen</a:t>
            </a:r>
          </a:p>
          <a:p>
            <a:r>
              <a:rPr lang="de-DE" dirty="0"/>
              <a:t>Abbildung aller Felder anderer Rechnungsformate</a:t>
            </a:r>
          </a:p>
          <a:p>
            <a:r>
              <a:rPr lang="de-DE" dirty="0"/>
              <a:t>Integration in hybride Formate</a:t>
            </a:r>
          </a:p>
          <a:p>
            <a:r>
              <a:rPr lang="de-DE" dirty="0"/>
              <a:t>Vollständige bidirektionale Abbildung aller Felder zwischen EN 16931:2026 und ebInterface 7.0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491A8-2B46-D2B7-F5FF-0805F175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510D4B-4670-71A1-D01D-AF8636B5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1C25C9-B35E-6E35-1FD9-C14A2355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31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A4DC8-E0EB-D1A2-5CAD-8287702C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Wann?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C8FB48-A053-2696-E190-8941C158B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Jeden 2. Donnerstag, 14:00 bis 15:30</a:t>
            </a:r>
          </a:p>
          <a:p>
            <a:r>
              <a:rPr lang="de-DE" dirty="0"/>
              <a:t>24.9., 8.10., 22.10., 5.11., </a:t>
            </a:r>
            <a:r>
              <a:rPr lang="de-AT" dirty="0"/>
              <a:t>19.11., 3.12., 17.12.</a:t>
            </a:r>
          </a:p>
          <a:p>
            <a:r>
              <a:rPr lang="de-AT" dirty="0"/>
              <a:t>Ziel: bis Ende des Jahres sind wir „Feature </a:t>
            </a:r>
            <a:r>
              <a:rPr lang="de-AT" dirty="0" err="1"/>
              <a:t>complete</a:t>
            </a:r>
            <a:r>
              <a:rPr lang="de-AT" dirty="0"/>
              <a:t>“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66A8CA-B511-9DCE-5F8B-0A7D6C1C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A1762F-FCFB-3221-E1F0-11A14B9E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A0555E-A80A-2450-3EB6-C18F277B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63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92319-7FFF-E07C-50AE-BD33FAB0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Wie?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8A562A-2F85-F1F2-10B4-A576896CF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Kommunikationssprache Deutsch</a:t>
            </a:r>
          </a:p>
          <a:p>
            <a:r>
              <a:rPr lang="de-DE" dirty="0"/>
              <a:t>Delta zwischen EN 16931:2017 und :2026 </a:t>
            </a:r>
            <a:r>
              <a:rPr lang="de-AT" b="1" dirty="0">
                <a:solidFill>
                  <a:schemeClr val="accent6"/>
                </a:solidFill>
              </a:rPr>
              <a:t>✓</a:t>
            </a:r>
            <a:endParaRPr lang="de-DE" b="1" dirty="0"/>
          </a:p>
          <a:p>
            <a:r>
              <a:rPr lang="de-DE" dirty="0"/>
              <a:t>Delta zwischen EN 16931:2026 und ebInterface 6.1 </a:t>
            </a:r>
            <a:r>
              <a:rPr lang="de-AT" b="1" dirty="0">
                <a:solidFill>
                  <a:schemeClr val="accent6"/>
                </a:solidFill>
              </a:rPr>
              <a:t>✓</a:t>
            </a:r>
            <a:endParaRPr lang="de-DE" dirty="0"/>
          </a:p>
          <a:p>
            <a:r>
              <a:rPr lang="de-DE" dirty="0"/>
              <a:t>Annäherung der Methodik an die EN 16931</a:t>
            </a:r>
          </a:p>
          <a:p>
            <a:r>
              <a:rPr lang="de-DE" dirty="0"/>
              <a:t>Jedes Delta-Element separat besprechen</a:t>
            </a:r>
          </a:p>
          <a:p>
            <a:r>
              <a:rPr lang="de-DE" dirty="0"/>
              <a:t>Anlegen eines “</a:t>
            </a:r>
            <a:r>
              <a:rPr lang="de-DE" dirty="0" err="1"/>
              <a:t>Entscheidungs</a:t>
            </a:r>
            <a:r>
              <a:rPr lang="de-DE" dirty="0"/>
              <a:t> Logs“ zur Optimierung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5DE0AF-C1D3-6FE0-563D-0A6C5C9C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864E2D-3DE8-1627-12DE-A40F4CDE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24E18F-7121-00A1-111D-714DC915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2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F94AC-2730-C7D1-6B32-785D7794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25BB32-1239-64FE-2D2B-4A3BA145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Evaluierung des Mappings </a:t>
            </a:r>
            <a:r>
              <a:rPr lang="de-DE" dirty="0" err="1"/>
              <a:t>ebi</a:t>
            </a:r>
            <a:r>
              <a:rPr lang="de-DE" dirty="0"/>
              <a:t> 6.1 / EN 16931:2026</a:t>
            </a:r>
          </a:p>
          <a:p>
            <a:r>
              <a:rPr lang="de-DE" dirty="0"/>
              <a:t>Identifizieren der Änderungen für </a:t>
            </a:r>
            <a:r>
              <a:rPr lang="de-DE" dirty="0" err="1"/>
              <a:t>ebi</a:t>
            </a:r>
            <a:r>
              <a:rPr lang="de-DE" dirty="0"/>
              <a:t> 7.0</a:t>
            </a:r>
          </a:p>
          <a:p>
            <a:pPr lvl="1"/>
            <a:r>
              <a:rPr lang="de-DE" dirty="0"/>
              <a:t>XML-Schema</a:t>
            </a:r>
          </a:p>
          <a:p>
            <a:pPr lvl="1"/>
            <a:r>
              <a:rPr lang="de-DE" dirty="0"/>
              <a:t>Dokumentation</a:t>
            </a:r>
          </a:p>
          <a:p>
            <a:pPr lvl="1"/>
            <a:r>
              <a:rPr lang="de-DE" dirty="0"/>
              <a:t>Beispiel ebInterface Dokumente</a:t>
            </a:r>
          </a:p>
          <a:p>
            <a:pPr lvl="1"/>
            <a:r>
              <a:rPr lang="de-DE" dirty="0"/>
              <a:t>XSLTs anpassen</a:t>
            </a:r>
          </a:p>
          <a:p>
            <a:r>
              <a:rPr lang="de-DE" dirty="0"/>
              <a:t>Follow-</a:t>
            </a:r>
            <a:r>
              <a:rPr lang="de-DE" dirty="0" err="1"/>
              <a:t>ups</a:t>
            </a:r>
            <a:endParaRPr lang="de-DE" dirty="0"/>
          </a:p>
          <a:p>
            <a:pPr lvl="1"/>
            <a:r>
              <a:rPr lang="de-DE" dirty="0" err="1"/>
              <a:t>eRechnung.gv.at</a:t>
            </a:r>
            <a:r>
              <a:rPr lang="de-DE" dirty="0"/>
              <a:t> aktualisieren (BRZ)</a:t>
            </a:r>
          </a:p>
          <a:p>
            <a:pPr lvl="1"/>
            <a:r>
              <a:rPr lang="de-DE" dirty="0"/>
              <a:t>AUSTRIAPRO Tools aktualisieren (</a:t>
            </a:r>
            <a:r>
              <a:rPr lang="de-DE" dirty="0" err="1"/>
              <a:t>service|labs.ebinterface.at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Evtl. Schematron-Regeln??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526DF3-A022-6EF5-1132-8CD545B0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C0745D-88B2-B7BE-8CF4-6CF08BCD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34CB3-053C-FCBF-F55F-50CA66E3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083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8073-9C7B-92D5-1875-DF4A6E89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16862-5948-DFDD-958E-FD136892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7DC06-5FBC-B13E-4231-BB6C26B06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Nicht-EN 16931 relevante Änderungen</a:t>
            </a:r>
          </a:p>
          <a:p>
            <a:pPr lvl="1"/>
            <a:r>
              <a:rPr lang="de-DE" dirty="0"/>
              <a:t>Abbildung von Vermittlungsleistungen (ÖBB)</a:t>
            </a:r>
          </a:p>
          <a:p>
            <a:pPr lvl="2"/>
            <a:r>
              <a:rPr lang="de-DE" dirty="0"/>
              <a:t>Kurze Präsentation am 22.10.2026 geplant</a:t>
            </a:r>
          </a:p>
          <a:p>
            <a:pPr lvl="1"/>
            <a:r>
              <a:rPr lang="de-DE" dirty="0"/>
              <a:t>Abbildung von Baurechnungen nach ÖNORM A 2063 (interne Abstimmung)</a:t>
            </a:r>
          </a:p>
          <a:p>
            <a:r>
              <a:rPr lang="de-DE" dirty="0"/>
              <a:t>Zusatztasks</a:t>
            </a:r>
          </a:p>
          <a:p>
            <a:pPr lvl="1"/>
            <a:r>
              <a:rPr lang="de-DE" dirty="0"/>
              <a:t>Doku </a:t>
            </a:r>
            <a:r>
              <a:rPr lang="de-DE" dirty="0" err="1"/>
              <a:t>ebi</a:t>
            </a:r>
            <a:r>
              <a:rPr lang="de-DE" dirty="0"/>
              <a:t> 6.1 fixen</a:t>
            </a:r>
          </a:p>
          <a:p>
            <a:pPr lvl="1"/>
            <a:r>
              <a:rPr lang="de-DE" dirty="0"/>
              <a:t>XSLT </a:t>
            </a:r>
            <a:r>
              <a:rPr lang="de-DE" dirty="0" err="1"/>
              <a:t>ebi</a:t>
            </a:r>
            <a:r>
              <a:rPr lang="de-DE" dirty="0"/>
              <a:t> 6.1 fixen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475CD8-DE0F-12EE-5E3E-DD539B6F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06558F-E56C-8847-3762-E0AD8758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01B985-0BD0-646A-9B81-B82CC90A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756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AD188-EDAE-E906-E2B8-EA6FAFD9E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Arbeitsumgebung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9202A4-7C8A-9854-076B-E1DB23C3A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Finales Release</a:t>
            </a:r>
          </a:p>
          <a:p>
            <a:pPr lvl="1"/>
            <a:r>
              <a:rPr lang="de-DE" dirty="0">
                <a:hlinkClick r:id="rId2"/>
              </a:rPr>
              <a:t>https://github.com/austriapro/ebinterface-standards</a:t>
            </a:r>
            <a:endParaRPr lang="de-DE" dirty="0"/>
          </a:p>
          <a:p>
            <a:r>
              <a:rPr lang="de-DE" dirty="0"/>
              <a:t>Arbeits-Repo</a:t>
            </a:r>
          </a:p>
          <a:p>
            <a:pPr lvl="1"/>
            <a:r>
              <a:rPr lang="de-DE" dirty="0">
                <a:hlinkClick r:id="rId3"/>
              </a:rPr>
              <a:t>https://github.com/austriapro/ebi7</a:t>
            </a:r>
            <a:endParaRPr lang="de-DE" dirty="0"/>
          </a:p>
          <a:p>
            <a:pPr lvl="1"/>
            <a:r>
              <a:rPr lang="de-DE" dirty="0"/>
              <a:t>Incl. </a:t>
            </a:r>
            <a:r>
              <a:rPr lang="de-DE" dirty="0" err="1"/>
              <a:t>Decision</a:t>
            </a:r>
            <a:r>
              <a:rPr lang="de-DE" dirty="0"/>
              <a:t>-Log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95FD7D-A4A7-3B81-0933-9B9A5E12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E3A457-F3C0-F493-7F34-67767796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3C67-75E3-CDBF-02EC-BBC1BE7F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103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BDF83-865B-A1C3-BB77-8D1E686F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Rechnungsformate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2A55B3-0D0F-0BFB-5CC4-219082C6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064B36-BCF5-20BC-1730-FD4FAA41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9D2E0-F273-0FFA-72D8-08568627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12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3AAE54-3DE8-2503-79FB-D59AC0D513AF}"/>
              </a:ext>
            </a:extLst>
          </p:cNvPr>
          <p:cNvSpPr/>
          <p:nvPr/>
        </p:nvSpPr>
        <p:spPr>
          <a:xfrm>
            <a:off x="1001486" y="2090057"/>
            <a:ext cx="1952172" cy="8345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ebInterface 6.1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5025944-EBF5-A52D-5B6C-952ADF929A34}"/>
              </a:ext>
            </a:extLst>
          </p:cNvPr>
          <p:cNvSpPr/>
          <p:nvPr/>
        </p:nvSpPr>
        <p:spPr>
          <a:xfrm>
            <a:off x="1001486" y="3914774"/>
            <a:ext cx="1952172" cy="8345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ebInterface 7.0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A6194C-1D41-A1A4-B7D9-7962A15D5CD1}"/>
              </a:ext>
            </a:extLst>
          </p:cNvPr>
          <p:cNvSpPr/>
          <p:nvPr/>
        </p:nvSpPr>
        <p:spPr>
          <a:xfrm>
            <a:off x="3939342" y="2090057"/>
            <a:ext cx="1952172" cy="834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16931:2017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879107-EF96-ADDC-8161-A6644E192E39}"/>
              </a:ext>
            </a:extLst>
          </p:cNvPr>
          <p:cNvSpPr/>
          <p:nvPr/>
        </p:nvSpPr>
        <p:spPr>
          <a:xfrm>
            <a:off x="762000" y="1502228"/>
            <a:ext cx="2419084" cy="40930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AUSTRIAPRO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59DB71C-278A-FFCF-8AFD-59700D798C4B}"/>
              </a:ext>
            </a:extLst>
          </p:cNvPr>
          <p:cNvSpPr/>
          <p:nvPr/>
        </p:nvSpPr>
        <p:spPr>
          <a:xfrm>
            <a:off x="3708404" y="1502227"/>
            <a:ext cx="4804228" cy="4093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CEN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3859C4A-D0C3-20D7-BF4C-958269E6ADB3}"/>
              </a:ext>
            </a:extLst>
          </p:cNvPr>
          <p:cNvSpPr/>
          <p:nvPr/>
        </p:nvSpPr>
        <p:spPr>
          <a:xfrm>
            <a:off x="3939342" y="3914774"/>
            <a:ext cx="1952172" cy="834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16931:2026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70319C4-1837-7B84-731F-31DE25A34D47}"/>
              </a:ext>
            </a:extLst>
          </p:cNvPr>
          <p:cNvSpPr/>
          <p:nvPr/>
        </p:nvSpPr>
        <p:spPr>
          <a:xfrm>
            <a:off x="3939342" y="294696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A57F887-E766-B1F7-08DE-B57F8A265EAF}"/>
              </a:ext>
            </a:extLst>
          </p:cNvPr>
          <p:cNvSpPr/>
          <p:nvPr/>
        </p:nvSpPr>
        <p:spPr>
          <a:xfrm>
            <a:off x="5300702" y="294696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16931-3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B804915-6A49-1882-B705-DEBFDF14BC47}"/>
              </a:ext>
            </a:extLst>
          </p:cNvPr>
          <p:cNvSpPr/>
          <p:nvPr/>
        </p:nvSpPr>
        <p:spPr>
          <a:xfrm>
            <a:off x="6662062" y="294696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16931-5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97B981F-8E80-D3E9-B2E7-EAA3A5A1BB07}"/>
              </a:ext>
            </a:extLst>
          </p:cNvPr>
          <p:cNvSpPr/>
          <p:nvPr/>
        </p:nvSpPr>
        <p:spPr>
          <a:xfrm>
            <a:off x="3939342" y="477281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4F5CD18-CC4E-6E99-96B1-67A119DD5B15}"/>
              </a:ext>
            </a:extLst>
          </p:cNvPr>
          <p:cNvSpPr/>
          <p:nvPr/>
        </p:nvSpPr>
        <p:spPr>
          <a:xfrm>
            <a:off x="5300702" y="477281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16931-3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F367D98-6E28-8058-C075-F205965EB9F4}"/>
              </a:ext>
            </a:extLst>
          </p:cNvPr>
          <p:cNvSpPr/>
          <p:nvPr/>
        </p:nvSpPr>
        <p:spPr>
          <a:xfrm>
            <a:off x="6662062" y="4772818"/>
            <a:ext cx="1351120" cy="341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 16931-5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555179F-1061-9CB8-5F0F-00F7583A660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977572" y="2924628"/>
            <a:ext cx="0" cy="990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19A44446-1497-9640-97DE-EC626F55494A}"/>
              </a:ext>
            </a:extLst>
          </p:cNvPr>
          <p:cNvSpPr txBox="1"/>
          <p:nvPr/>
        </p:nvSpPr>
        <p:spPr>
          <a:xfrm>
            <a:off x="1001486" y="4773836"/>
            <a:ext cx="140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+Vermittlung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DA09760-FE31-79E8-8804-DBD3ECB56929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53658" y="4332060"/>
            <a:ext cx="985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B78A89B4-34D6-FA98-F841-34478DA334B6}"/>
              </a:ext>
            </a:extLst>
          </p:cNvPr>
          <p:cNvSpPr/>
          <p:nvPr/>
        </p:nvSpPr>
        <p:spPr>
          <a:xfrm>
            <a:off x="5955257" y="3914773"/>
            <a:ext cx="1201056" cy="83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Country </a:t>
            </a:r>
            <a:r>
              <a:rPr lang="de-DE" dirty="0" err="1"/>
              <a:t>Extensions</a:t>
            </a:r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BA4F453-C3A4-B267-E605-A6884B99B8C9}"/>
              </a:ext>
            </a:extLst>
          </p:cNvPr>
          <p:cNvSpPr/>
          <p:nvPr/>
        </p:nvSpPr>
        <p:spPr>
          <a:xfrm>
            <a:off x="7220056" y="3914773"/>
            <a:ext cx="1201056" cy="83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Branchen </a:t>
            </a:r>
            <a:r>
              <a:rPr lang="de-DE" dirty="0" err="1"/>
              <a:t>Extensions</a:t>
            </a:r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282D207-8319-4321-EA40-0FA2FEBFACD1}"/>
              </a:ext>
            </a:extLst>
          </p:cNvPr>
          <p:cNvSpPr/>
          <p:nvPr/>
        </p:nvSpPr>
        <p:spPr>
          <a:xfrm>
            <a:off x="8898675" y="1502227"/>
            <a:ext cx="1805612" cy="40930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dirty="0"/>
              <a:t>EU</a:t>
            </a:r>
          </a:p>
        </p:txBody>
      </p:sp>
      <p:sp>
        <p:nvSpPr>
          <p:cNvPr id="28" name="Zylinder 27">
            <a:extLst>
              <a:ext uri="{FF2B5EF4-FFF2-40B4-BE49-F238E27FC236}">
                <a16:creationId xmlns:a16="http://schemas.microsoft.com/office/drawing/2014/main" id="{7FB687C6-35EF-3BB1-8F1F-D5E99A50FE3F}"/>
              </a:ext>
            </a:extLst>
          </p:cNvPr>
          <p:cNvSpPr/>
          <p:nvPr/>
        </p:nvSpPr>
        <p:spPr>
          <a:xfrm>
            <a:off x="9107714" y="2451781"/>
            <a:ext cx="1313543" cy="10668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Extension Registry</a:t>
            </a:r>
          </a:p>
        </p:txBody>
      </p:sp>
      <p:cxnSp>
        <p:nvCxnSpPr>
          <p:cNvPr id="30" name="Gewinkelte Verbindung 29">
            <a:extLst>
              <a:ext uri="{FF2B5EF4-FFF2-40B4-BE49-F238E27FC236}">
                <a16:creationId xmlns:a16="http://schemas.microsoft.com/office/drawing/2014/main" id="{36B3C393-AB34-2D73-6D4C-2AEB58FD43C3}"/>
              </a:ext>
            </a:extLst>
          </p:cNvPr>
          <p:cNvCxnSpPr>
            <a:stCxn id="25" idx="0"/>
            <a:endCxn id="28" idx="3"/>
          </p:cNvCxnSpPr>
          <p:nvPr/>
        </p:nvCxnSpPr>
        <p:spPr>
          <a:xfrm rot="5400000" flipH="1" flipV="1">
            <a:off x="7962039" y="2112327"/>
            <a:ext cx="396192" cy="32087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winkelte Verbindung 30">
            <a:extLst>
              <a:ext uri="{FF2B5EF4-FFF2-40B4-BE49-F238E27FC236}">
                <a16:creationId xmlns:a16="http://schemas.microsoft.com/office/drawing/2014/main" id="{098E6B7D-9B07-923B-273F-CFF0A57E80A1}"/>
              </a:ext>
            </a:extLst>
          </p:cNvPr>
          <p:cNvCxnSpPr>
            <a:cxnSpLocks/>
            <a:stCxn id="26" idx="0"/>
            <a:endCxn id="28" idx="3"/>
          </p:cNvCxnSpPr>
          <p:nvPr/>
        </p:nvCxnSpPr>
        <p:spPr>
          <a:xfrm rot="5400000" flipH="1" flipV="1">
            <a:off x="8594439" y="2744726"/>
            <a:ext cx="396192" cy="19439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71166861-5D7A-141F-787B-035ED9AA23A6}"/>
              </a:ext>
            </a:extLst>
          </p:cNvPr>
          <p:cNvSpPr txBox="1"/>
          <p:nvPr/>
        </p:nvSpPr>
        <p:spPr>
          <a:xfrm>
            <a:off x="6680596" y="34168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BMF</a:t>
            </a:r>
          </a:p>
        </p:txBody>
      </p:sp>
    </p:spTree>
    <p:extLst>
      <p:ext uri="{BB962C8B-B14F-4D97-AF65-F5344CB8AC3E}">
        <p14:creationId xmlns:p14="http://schemas.microsoft.com/office/powerpoint/2010/main" val="158005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2FB7B-ABDB-8BF9-D44E-C9DF326C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609EB7-584F-78C3-7743-F273E86CE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Gerne jetzt oder später per E-Mail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D31517-C0B6-95AE-F656-A2F7F3E4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24.09.2026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2BB75A-0CF5-01F7-80E3-AA4A330D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ebInterface 7.0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7E8D8F-19F6-2940-9F5F-FCD6FD08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A3A-E237-483D-94CD-DEA26B7E26C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2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Macintosh PowerPoint</Application>
  <PresentationFormat>Breitbild</PresentationFormat>
  <Paragraphs>141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</vt:lpstr>
      <vt:lpstr>ebInterface 7.0 Workshop 1</vt:lpstr>
      <vt:lpstr>Agenda</vt:lpstr>
      <vt:lpstr>Rückblick: Big Picture</vt:lpstr>
      <vt:lpstr>Rückblick: Wer?</vt:lpstr>
      <vt:lpstr>Rückblick: Was?</vt:lpstr>
      <vt:lpstr>Rückblick: Was nicht?</vt:lpstr>
      <vt:lpstr>Rückblick: Wann?</vt:lpstr>
      <vt:lpstr>Rückblick: Wie?</vt:lpstr>
      <vt:lpstr>Tasks</vt:lpstr>
      <vt:lpstr>Tasks</vt:lpstr>
      <vt:lpstr>Arbeitsumgebung</vt:lpstr>
      <vt:lpstr>Rechnungsformate</vt:lpstr>
      <vt:lpstr>Fragen?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Sending of a Message</dc:title>
  <dc:creator>Philip Helger</dc:creator>
  <cp:lastModifiedBy>Helger, Philip (ext.)</cp:lastModifiedBy>
  <cp:revision>157</cp:revision>
  <dcterms:created xsi:type="dcterms:W3CDTF">2022-02-07T13:15:30Z</dcterms:created>
  <dcterms:modified xsi:type="dcterms:W3CDTF">2026-09-24T13:04:44Z</dcterms:modified>
</cp:coreProperties>
</file>